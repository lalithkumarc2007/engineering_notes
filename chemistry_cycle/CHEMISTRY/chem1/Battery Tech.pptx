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6" r:id="rId2"/>
    <p:sldId id="296" r:id="rId3"/>
    <p:sldId id="310" r:id="rId4"/>
    <p:sldId id="297" r:id="rId5"/>
    <p:sldId id="311" r:id="rId6"/>
    <p:sldId id="318" r:id="rId7"/>
    <p:sldId id="319" r:id="rId8"/>
    <p:sldId id="320" r:id="rId9"/>
    <p:sldId id="298" r:id="rId10"/>
    <p:sldId id="299" r:id="rId11"/>
    <p:sldId id="312" r:id="rId12"/>
    <p:sldId id="316" r:id="rId13"/>
    <p:sldId id="314" r:id="rId14"/>
    <p:sldId id="317" r:id="rId15"/>
    <p:sldId id="304" r:id="rId16"/>
    <p:sldId id="305" r:id="rId17"/>
    <p:sldId id="306" r:id="rId18"/>
    <p:sldId id="321" r:id="rId19"/>
    <p:sldId id="322" r:id="rId20"/>
    <p:sldId id="315" r:id="rId21"/>
    <p:sldId id="301" r:id="rId22"/>
    <p:sldId id="309" r:id="rId23"/>
    <p:sldId id="302" r:id="rId24"/>
    <p:sldId id="313" r:id="rId25"/>
  </p:sldIdLst>
  <p:sldSz cx="9144000" cy="6858000" type="screen4x3"/>
  <p:notesSz cx="6934200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2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00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45" autoAdjust="0"/>
  </p:normalViewPr>
  <p:slideViewPr>
    <p:cSldViewPr>
      <p:cViewPr varScale="1">
        <p:scale>
          <a:sx n="73" d="100"/>
          <a:sy n="73" d="100"/>
        </p:scale>
        <p:origin x="1666" y="62"/>
      </p:cViewPr>
      <p:guideLst>
        <p:guide orient="horz" pos="2180"/>
        <p:guide pos="286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5" name="Group 15"/>
          <p:cNvGrpSpPr/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7 w 5760"/>
                <a:gd name="T3" fmla="*/ 0 h 528"/>
                <a:gd name="T4" fmla="*/ 2147483647 w 5760"/>
                <a:gd name="T5" fmla="*/ 2147483647 h 528"/>
                <a:gd name="T6" fmla="*/ 2147483647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52C7140-E8F2-4CB3-A632-002BFBE484A1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797A16-062A-4D6D-89CA-8A6476E2855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FBF54-36A4-416A-9FA3-84083C76EE0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ED408-82D3-453B-8BFC-3D3E1D3FB81C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1A981C-501C-48A1-B16F-ACBBD91A6D08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DB12E-A93B-4247-B585-D0A99BE6D4CB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B6B302-BA6E-4044-BC4A-70ABD3123AC8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CBCE5-31AD-4B08-8F61-31120788543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Freeform 15"/>
          <p:cNvSpPr/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2147483647 w 5591"/>
              <a:gd name="T3" fmla="*/ 0 h 588"/>
              <a:gd name="T4" fmla="*/ 2147483647 w 5591"/>
              <a:gd name="T5" fmla="*/ 2147483647 h 588"/>
              <a:gd name="T6" fmla="*/ 2147483647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DA227A-0F45-4CD9-9C80-5DB9A02649C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A6E97C-D174-4A7C-8F29-EBB578530DD7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384E4E-223D-48EE-9333-E1B0BDC2E9D9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27" name="Freeform 11"/>
          <p:cNvSpPr/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2147483647 w 5591"/>
              <a:gd name="T3" fmla="*/ 0 h 588"/>
              <a:gd name="T4" fmla="*/ 2147483647 w 5591"/>
              <a:gd name="T5" fmla="*/ 2147483647 h 588"/>
              <a:gd name="T6" fmla="*/ 2147483647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EB7B2AC9-1E28-4283-AC80-24CB8D4E8148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0"/>
            <a:ext cx="82296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Algerian" panose="04020705040A02060702" pitchFamily="82" charset="0"/>
              </a:rPr>
              <a:t>Energy storage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ontent Placeholder 1"/>
          <p:cNvSpPr>
            <a:spLocks noGrp="1"/>
          </p:cNvSpPr>
          <p:nvPr>
            <p:ph idx="1"/>
          </p:nvPr>
        </p:nvSpPr>
        <p:spPr>
          <a:xfrm>
            <a:off x="76200" y="533400"/>
            <a:ext cx="8991600" cy="57912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is a device which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chemical energy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 energy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cell forms a single unit and generates less energy.  Higher voltage can be achieved by coupling number of cells.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Battery is a device that consists of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or more galvanic cells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connected in series or parallel or both, which converts chemical energy into electrical energy through redox reactions.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can store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Chemical energy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form of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material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demand convert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 electrical energy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electrochemical redox reaction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0"/>
            <a:ext cx="8229600" cy="6858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Box 1"/>
          <p:cNvSpPr txBox="1">
            <a:spLocks noChangeArrowheads="1"/>
          </p:cNvSpPr>
          <p:nvPr/>
        </p:nvSpPr>
        <p:spPr bwMode="auto">
          <a:xfrm>
            <a:off x="228600" y="152400"/>
            <a:ext cx="845820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size of a battery ranges from a fraction of a cubic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centimetre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several cubic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Batteries are  used in calculators, digital watches, pace makers, hearing aids, portable computers, electronically controlled cameras, car engines, stand-by power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supplis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emergency lighting and electroplating, telecommunication and military and space applications.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battery is designed and manufactured for a specific performance such as, to power a torch, to start a car engine, to supply emergency power to the hospitals and to generate a very precise voltage to maintain heartbeats.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the batteries:</a:t>
            </a:r>
          </a:p>
        </p:txBody>
      </p:sp>
      <p:sp>
        <p:nvSpPr>
          <p:cNvPr id="12291" name="Rectangle 4"/>
          <p:cNvSpPr>
            <a:spLocks noChangeArrowheads="1"/>
          </p:cNvSpPr>
          <p:nvPr/>
        </p:nvSpPr>
        <p:spPr bwMode="auto">
          <a:xfrm>
            <a:off x="2819400" y="4314825"/>
            <a:ext cx="4572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>
                <a:solidFill>
                  <a:srgbClr val="FF0000"/>
                </a:solidFill>
                <a:cs typeface="Arial" panose="020B0604020202020204" pitchFamily="34" charset="0"/>
              </a:rPr>
              <a:t>(1) Anode or negative electrode</a:t>
            </a:r>
            <a:endParaRPr lang="en-US"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b="1">
                <a:solidFill>
                  <a:srgbClr val="FF0000"/>
                </a:solidFill>
                <a:cs typeface="Arial" panose="020B0604020202020204" pitchFamily="34" charset="0"/>
              </a:rPr>
              <a:t>(2) Cathode or positive electrode</a:t>
            </a:r>
          </a:p>
          <a:p>
            <a:pPr algn="just">
              <a:lnSpc>
                <a:spcPct val="150000"/>
              </a:lnSpc>
            </a:pPr>
            <a:r>
              <a:rPr lang="en-US" b="1">
                <a:solidFill>
                  <a:srgbClr val="FF0000"/>
                </a:solidFill>
                <a:cs typeface="Arial" panose="020B0604020202020204" pitchFamily="34" charset="0"/>
              </a:rPr>
              <a:t>(3) Electrolyte</a:t>
            </a:r>
            <a:endParaRPr lang="en-US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b="1">
                <a:solidFill>
                  <a:srgbClr val="FF0000"/>
                </a:solidFill>
                <a:cs typeface="Arial" panose="020B0604020202020204" pitchFamily="34" charset="0"/>
              </a:rPr>
              <a:t>(4) Separator</a:t>
            </a:r>
            <a:endParaRPr lang="en-US"/>
          </a:p>
        </p:txBody>
      </p:sp>
      <p:pic>
        <p:nvPicPr>
          <p:cNvPr id="12292" name="Picture 4" descr="https://www.progressivedyn.com/wp-content/uploads/2017/05/bat_basics_fig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09675"/>
            <a:ext cx="7065963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 txBox="1"/>
          <p:nvPr/>
        </p:nvSpPr>
        <p:spPr>
          <a:xfrm>
            <a:off x="114300" y="228600"/>
            <a:ext cx="8915400" cy="6019800"/>
          </a:xfrm>
          <a:prstGeom prst="rect">
            <a:avLst/>
          </a:prstGeom>
        </p:spPr>
        <p:txBody>
          <a:bodyPr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 components of a battery are: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(1)Anode or negative electrode: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releases electrons to the external circuit by undergoing oxidation.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(2)Cathode or positive electrode: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accepts electrons from the external circuit and the active material undergo reduction reaction.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(3)Electrolyte: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solution of an acid, alkali or salt having higher ionic conductivity is commonly used as electrolyte.  Electrolyte provides medium for transfer of ions between the anode and cathode.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(4)Separator: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material used to separate anode and cathode in a battery to prevent internal short circuiting. It is permeable to the electrolyte and maintains the desired ionic conductivity. 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Example: cellulose, vinyl polymers, cellophane etc.</a:t>
            </a:r>
          </a:p>
          <a:p>
            <a:pPr marL="109220" indent="0" algn="just">
              <a:lnSpc>
                <a:spcPct val="150000"/>
              </a:lnSpc>
              <a:buFont typeface="Wingdings 3" panose="05040102010807070707" pitchFamily="18" charset="2"/>
              <a:buNone/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52400" y="76200"/>
                <a:ext cx="8915400" cy="6236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Characteristics of a battery</a:t>
                </a:r>
              </a:p>
              <a:p>
                <a:endParaRPr lang="en-US" sz="105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/>
                <a:r>
                  <a:rPr lang="en-US" sz="2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Voltage: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voltage available from a battery depends upon the </a:t>
                </a:r>
                <a:r>
                  <a:rPr lang="en-IN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emf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cell which constitute the battery system. The </a:t>
                </a:r>
                <a:r>
                  <a:rPr lang="en-IN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emf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cell depends on the free energy change in the overall cell reaction. As given by Nernst equation. 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IN" sz="22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cell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E</a:t>
                </a:r>
                <a:r>
                  <a:rPr lang="en-IN" sz="2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IN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Cell 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IN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baseline="-250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 baseline="-25000">
                            <a:latin typeface="Cambria Math" panose="02040503050406030204"/>
                          </a:rPr>
                          <m:t>2.303</m:t>
                        </m:r>
                        <m:r>
                          <a:rPr lang="en-IN" sz="2200" i="1" baseline="-25000">
                            <a:latin typeface="Cambria Math" panose="02040503050406030204"/>
                          </a:rPr>
                          <m:t>𝑅𝑇</m:t>
                        </m:r>
                      </m:num>
                      <m:den>
                        <m:r>
                          <a:rPr lang="en-IN" sz="2200" i="1" baseline="-25000">
                            <a:latin typeface="Cambria Math" panose="02040503050406030204"/>
                          </a:rPr>
                          <m:t>𝑛𝐹</m:t>
                        </m:r>
                      </m:den>
                    </m:f>
                    <m:r>
                      <a:rPr lang="en-IN" sz="2200" i="1" baseline="-25000">
                        <a:latin typeface="Cambria Math" panose="02040503050406030204"/>
                      </a:rPr>
                      <m:t> </m:t>
                    </m:r>
                    <m:r>
                      <a:rPr lang="en-IN" sz="2200" i="1" baseline="-25000">
                        <a:latin typeface="Cambria Math" panose="02040503050406030204"/>
                      </a:rPr>
                      <m:t>𝑙𝑜𝑔𝑞</m:t>
                    </m:r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E</a:t>
                </a:r>
                <a:r>
                  <a:rPr lang="en-IN" sz="2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IN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Cell 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E</a:t>
                </a:r>
                <a:r>
                  <a:rPr lang="en-IN" sz="2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IN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Cathode 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E</a:t>
                </a:r>
                <a:r>
                  <a:rPr lang="en-IN" sz="2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IN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anode 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 = [product] / [Reactant]</a:t>
                </a:r>
              </a:p>
              <a:p>
                <a:pPr algn="just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above equation it is clear that, </a:t>
                </a:r>
                <a:r>
                  <a:rPr lang="en-IN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emf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cell and also the voltage available from the battery is dependent on </a:t>
                </a:r>
              </a:p>
              <a:p>
                <a:pPr lvl="0" algn="just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standard electrode potential difference between the cathode and anode, temperature and extent of the cell reaction. If the difference in the standard electrode potential is more, higher is the </a:t>
                </a:r>
                <a:r>
                  <a:rPr lang="en-IN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emf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cell.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the temperature increases the </a:t>
                </a:r>
                <a:r>
                  <a:rPr lang="en-IN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emf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cell decreases 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the value of Q increases the </a:t>
                </a:r>
                <a:r>
                  <a:rPr lang="en-IN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emf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cell decreases marginally.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 cell potential is possible when the cell is with low resistance</a:t>
                </a:r>
                <a:r>
                  <a:rPr lang="en-US" sz="24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76200"/>
                <a:ext cx="8915400" cy="6236131"/>
              </a:xfrm>
              <a:prstGeom prst="rect">
                <a:avLst/>
              </a:prstGeom>
              <a:blipFill>
                <a:blip r:embed="rId2"/>
                <a:stretch>
                  <a:fillRect l="-1367" t="-1076" r="-820" b="-1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28600" y="381000"/>
                <a:ext cx="8763001" cy="6404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IN" sz="2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Current:  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Current is a measure of the rate at which the battery is discharging. High current can be delivered with out excessive voltage penalty if there is rapid electron transfer reaction. </a:t>
                </a:r>
              </a:p>
              <a:p>
                <a:pPr algn="just"/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Capacity: 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capacity depends on the size of the battery and is given by Faradays relation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/>
                      </a:rPr>
                      <m:t>C</m:t>
                    </m:r>
                    <m:r>
                      <a:rPr lang="en-IN" sz="2800" i="0" smtClean="0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/>
                          </a:rPr>
                          <m:t>WnF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/>
                          </a:rPr>
                          <m:t>M</m:t>
                        </m:r>
                      </m:den>
                    </m:f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W = mass and M = molar mass of active material.</a:t>
                </a:r>
              </a:p>
              <a:p>
                <a:pPr algn="just"/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Electricity storage density:  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the amount of electricity per unit weight which the </a:t>
                </a:r>
                <a:r>
                  <a:rPr lang="en-IN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storer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hold. i.e., it is the capacity per unit weight of the battery.</a:t>
                </a:r>
              </a:p>
              <a:p>
                <a:pPr algn="just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just"/>
                <a:r>
                  <a:rPr lang="en-IN" sz="2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Power density: 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Power density is the power per unit weight of battery or it is the ratio of the power available from a battery to its mass (</a:t>
                </a:r>
                <a:r>
                  <a:rPr lang="en-IN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Wkg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or volume (W/L). A battery should have continuous power density above a certain value or a high value for a short period.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81000"/>
                <a:ext cx="8763001" cy="6404446"/>
              </a:xfrm>
              <a:prstGeom prst="rect">
                <a:avLst/>
              </a:prstGeom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52400" y="76200"/>
                <a:ext cx="8915400" cy="6057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IN" sz="2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 Energy Efficiency: 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Energy efficiency for a storage battery is given by </a:t>
                </a:r>
              </a:p>
              <a:p>
                <a:pPr algn="just"/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% Energy efficiency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Energy</m:t>
                        </m:r>
                        <m:r>
                          <m:rPr>
                            <m:nor/>
                          </m:rPr>
                          <a:rPr lang="en-IN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released</m:t>
                        </m:r>
                        <m:r>
                          <m:rPr>
                            <m:nor/>
                          </m:rPr>
                          <a:rPr lang="en-IN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on</m:t>
                        </m:r>
                        <m:r>
                          <m:rPr>
                            <m:nor/>
                          </m:rPr>
                          <a:rPr lang="en-IN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discharge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Energy</m:t>
                        </m:r>
                        <m:r>
                          <m:rPr>
                            <m:nor/>
                          </m:rPr>
                          <a:rPr lang="en-IN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required</m:t>
                        </m:r>
                        <m:r>
                          <m:rPr>
                            <m:nor/>
                          </m:rPr>
                          <a:rPr lang="en-IN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for</m:t>
                        </m:r>
                        <m:r>
                          <m:rPr>
                            <m:nor/>
                          </m:rPr>
                          <a:rPr lang="en-IN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charging</m:t>
                        </m:r>
                      </m:den>
                    </m:f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 100</a:t>
                </a:r>
              </a:p>
              <a:p>
                <a:pPr algn="just"/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Energy efficiency depends on the current efficiency of the electrode process, the </a:t>
                </a:r>
                <a:r>
                  <a:rPr lang="en-IN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overpotentials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during discharge and charge and internal resistance.</a:t>
                </a:r>
              </a:p>
              <a:p>
                <a:pPr algn="just"/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7. Cycle life: 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Primary batteries are designed for a single discharge but a secondary battery is rechargeable. The cycle life is the number of charge / discharge cycles that are possible before failure occurs. The cycle life of a storage battery must be high.</a:t>
                </a:r>
              </a:p>
              <a:p>
                <a:pPr algn="just"/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8. Shelf life: 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Shelf life is the period of the storage under specified conditions during which a battery retains its performance level. Shelf life is affected by self-discharge. Self-discharge occurs when there is a reaction between anode and cathode active materials or corrosion of current collections.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76200"/>
                <a:ext cx="8915400" cy="6057620"/>
              </a:xfrm>
              <a:prstGeom prst="rect">
                <a:avLst/>
              </a:prstGeom>
              <a:blipFill rotWithShape="1">
                <a:blip r:embed="rId2"/>
                <a:stretch>
                  <a:fillRect b="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1"/>
          <p:cNvSpPr>
            <a:spLocks noGrp="1"/>
          </p:cNvSpPr>
          <p:nvPr>
            <p:ph idx="1"/>
          </p:nvPr>
        </p:nvSpPr>
        <p:spPr>
          <a:xfrm>
            <a:off x="76200" y="609600"/>
            <a:ext cx="8991600" cy="61722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Batteries are classified as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batteries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400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Secondary batteries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Reserve batteries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Primary batteries: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</a:t>
            </a:r>
            <a:r>
              <a:rPr lang="en-US" alt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irreversible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rechargeable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once discharged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have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further electrical use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alt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Zn-MnO</a:t>
            </a:r>
            <a:r>
              <a:rPr lang="en-US" altLang="en-US" sz="24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Li-MnO</a:t>
            </a:r>
            <a:r>
              <a:rPr lang="en-US" altLang="en-US" sz="24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batteries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76200"/>
            <a:ext cx="8229600" cy="762000"/>
          </a:xfrm>
        </p:spPr>
        <p:txBody>
          <a:bodyPr/>
          <a:lstStyle/>
          <a:p>
            <a:pPr algn="ctr">
              <a:defRPr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batteries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1"/>
          <p:cNvSpPr>
            <a:spLocks noGrp="1"/>
          </p:cNvSpPr>
          <p:nvPr>
            <p:ph idx="1"/>
          </p:nvPr>
        </p:nvSpPr>
        <p:spPr>
          <a:xfrm>
            <a:off x="200025" y="76200"/>
            <a:ext cx="8915400" cy="57912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 Secondary batteries: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secondary batteries the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 reactions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reversible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</a:t>
            </a:r>
            <a:r>
              <a:rPr lang="en-US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 called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 batteries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discharged cell </a:t>
            </a:r>
            <a:r>
              <a:rPr lang="en-US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recharged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passing current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it in the </a:t>
            </a:r>
            <a:r>
              <a:rPr lang="en-US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direction opposite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of discharge current.  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 storage batteries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Nickel –Cadmium battery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</a:p>
          <a:p>
            <a:pPr marL="109220" indent="0" algn="just"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Reserve batteries: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</a:t>
            </a:r>
            <a:r>
              <a:rPr lang="en-US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reserve batteries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stored separately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400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incorporated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the battery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required.  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</a:t>
            </a:r>
            <a:r>
              <a:rPr lang="en-US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electrolyte is stored separately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 battery activated by water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Zn-Ag</a:t>
            </a:r>
            <a:r>
              <a:rPr lang="en-US" altLang="en-US" sz="2400" baseline="-25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batteries</a:t>
            </a:r>
          </a:p>
          <a:p>
            <a:pPr algn="just">
              <a:lnSpc>
                <a:spcPct val="150000"/>
              </a:lnSpc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https://batteries-unlimited.co.za/wp-content/uploads/2019/01/howworks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447799"/>
            <a:ext cx="5867400" cy="3870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04800" y="119390"/>
            <a:ext cx="7924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of battery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2610"/>
            <a:ext cx="2039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Discharging</a:t>
            </a:r>
            <a:endParaRPr lang="en-US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5275" y="304800"/>
            <a:ext cx="8677275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Discharge occurs when the battery is connected to an external circuit and the circuit is closed.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discharge, the anode undergoes oxidation to form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releases electrons.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electrons flow from the anode to the cathode through the external circuit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cathode the electrons are accepted and the active species at the cathode compartment is reduced to metal releasing the anions.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anions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formed at the respective electrodes move across the separator to maintain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electroneutrality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to complete the electric circuit.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reaction during discharge are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/>
              </a:rPr>
              <a:t>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n+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ne ------ anode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ne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/>
              </a:rPr>
              <a:t>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I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------- cathode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6417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Charging</a:t>
            </a:r>
            <a:endParaRPr lang="en-US" sz="2800" dirty="0">
              <a:solidFill>
                <a:srgbClr val="C00000"/>
              </a:solidFill>
            </a:endParaRPr>
          </a:p>
        </p:txBody>
      </p:sp>
      <p:pic>
        <p:nvPicPr>
          <p:cNvPr id="3" name="Picture 4" descr="https://batteriesbyfisher.com/wp-content/uploads/2016/08/BatteryInfo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066800"/>
            <a:ext cx="6172200" cy="4326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762000"/>
            <a:ext cx="82296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recharge, the current flow is reversed with the aid of a DC power supply 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negative terminal of the power supply is connected to the negative electrode of the battery and the positive terminal of battery to positive electrode.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anode the active species is reduced to metal and at cathode, oxidation takes place forming the active species.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during recharge the positive electrode is anode and the negative electrode is cathode.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electrode reactions occurring during recharge are the reverse of those occurring during discharge.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I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/>
              </a:rPr>
              <a:t>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ne ---------- cathode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</a:t>
            </a:r>
            <a:r>
              <a:rPr lang="en-IN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ne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/>
              </a:rPr>
              <a:t>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------- anode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1"/>
          <p:cNvSpPr>
            <a:spLocks noGrp="1"/>
          </p:cNvSpPr>
          <p:nvPr>
            <p:ph idx="1"/>
          </p:nvPr>
        </p:nvSpPr>
        <p:spPr>
          <a:xfrm>
            <a:off x="381000" y="762000"/>
            <a:ext cx="8229600" cy="533400"/>
          </a:xfrm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alkaline rechargeable battery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" y="33779"/>
            <a:ext cx="9067800" cy="728221"/>
          </a:xfrm>
        </p:spPr>
        <p:txBody>
          <a:bodyPr/>
          <a:lstStyle/>
          <a:p>
            <a:pPr algn="ctr">
              <a:defRPr/>
            </a:pPr>
            <a:r>
              <a:rPr lang="en-US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Nickel - Metal Hydride (Ni-MH) battery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8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55" t="33543" r="13612" b="34966"/>
          <a:stretch>
            <a:fillRect/>
          </a:stretch>
        </p:blipFill>
        <p:spPr bwMode="auto">
          <a:xfrm>
            <a:off x="3657600" y="1295400"/>
            <a:ext cx="5345113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1"/>
          <p:cNvSpPr>
            <a:spLocks noGrp="1"/>
          </p:cNvSpPr>
          <p:nvPr>
            <p:ph idx="1"/>
          </p:nvPr>
        </p:nvSpPr>
        <p:spPr>
          <a:xfrm>
            <a:off x="34412" y="457200"/>
            <a:ext cx="8880987" cy="5516562"/>
          </a:xfrm>
        </p:spPr>
        <p:txBody>
          <a:bodyPr/>
          <a:lstStyle/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Nickel metal hydride consists of</a:t>
            </a:r>
          </a:p>
          <a:p>
            <a:pPr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Anode: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Porous nickel grid pasted with hydrides of metals like VH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ZrH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TiH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hydrogen storage metal alloy such as TiNi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LaNi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Cathode: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Porous nickel grid pasted with nickel oxy hydroxide 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(OH)) and Ni(OH)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Electrolyte: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Aqueous solution of KOH (28%)</a:t>
            </a:r>
          </a:p>
          <a:p>
            <a:pPr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Separator: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Anode and cathode are separated by polypropylene which acts as a medium for absorbing electrolyte and insulator between two electrodes.</a:t>
            </a:r>
          </a:p>
          <a:p>
            <a:pPr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1.3V</a:t>
            </a:r>
          </a:p>
          <a:p>
            <a:pPr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representation: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MH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,M/KOH(28%)/,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(OH), Ni(OH)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1"/>
          <p:cNvSpPr>
            <a:spLocks noGrp="1"/>
          </p:cNvSpPr>
          <p:nvPr>
            <p:ph idx="1"/>
          </p:nvPr>
        </p:nvSpPr>
        <p:spPr>
          <a:xfrm>
            <a:off x="228600" y="228600"/>
            <a:ext cx="8763000" cy="4953000"/>
          </a:xfrm>
        </p:spPr>
        <p:txBody>
          <a:bodyPr/>
          <a:lstStyle/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Reactions: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anode: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MH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+ 2OH</a:t>
            </a: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+ H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+ 2e</a:t>
            </a: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cathode: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2NiO(OH) + 2 H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+ 2 e</a:t>
            </a: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 Ni(OH)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+2OH</a:t>
            </a: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cell reaction: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MH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+ 2NiO(OH) 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 + 2Ni(OH)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22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During charging cell reactions will be reversed. The potential of the cell is 1.3 V having high capacity, long life and rapid recharge capacity.</a:t>
            </a:r>
          </a:p>
          <a:p>
            <a:pPr marL="109220" indent="0" algn="just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 marL="109220" indent="0" algn="just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Used in cellular phones, laptop computers, electric vehicles and space crafts.</a:t>
            </a:r>
          </a:p>
          <a:p>
            <a:pPr marL="109220" indent="0" algn="just"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On the challenge of developing advanced technologies for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650" y="4191000"/>
            <a:ext cx="4476750" cy="2495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635" y="496980"/>
            <a:ext cx="3278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Lithium-MnO</a:t>
            </a:r>
            <a:r>
              <a:rPr lang="en-IN" sz="24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battery 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" y="990600"/>
            <a:ext cx="89154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anode: lithium metal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cathode: MnO</a:t>
            </a:r>
            <a:r>
              <a:rPr lang="en-IN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(Heat treated at 350 </a:t>
            </a:r>
            <a:r>
              <a:rPr lang="en-IN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electrolyte: Lithium salt (LiCl, LiClO</a:t>
            </a:r>
            <a:r>
              <a:rPr lang="en-IN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LiAlCl</a:t>
            </a:r>
            <a:r>
              <a:rPr lang="en-IN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LiCF</a:t>
            </a:r>
            <a:r>
              <a:rPr lang="en-IN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IN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dissolved in a mixed organic solvent of propylene carbonate and 1,2- dimethoxy ethane.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(water is not used as a solvent because lithium is highly reactive in water, whereas rate of corrosion of Li is slow in organic solvents)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anode and cathode are separated by a non woven polypropylene separator.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representation: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Li|Li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+| Lithium salt of organic solvent| Mn(IV)O</a:t>
            </a:r>
            <a:r>
              <a:rPr lang="en-IN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|Mn(III)O</a:t>
            </a:r>
            <a:r>
              <a:rPr lang="en-IN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/>
          <p:cNvSpPr txBox="1"/>
          <p:nvPr/>
        </p:nvSpPr>
        <p:spPr>
          <a:xfrm>
            <a:off x="114300" y="152400"/>
            <a:ext cx="887729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Reactions: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Anode:                            Li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/>
              </a:rPr>
              <a:t>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</a:t>
            </a:r>
            <a:r>
              <a:rPr lang="en-I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e</a:t>
            </a:r>
            <a:r>
              <a:rPr lang="en-I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Cathode:       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(IV)O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/>
              </a:rPr>
              <a:t>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(III)O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</a:t>
            </a:r>
            <a:r>
              <a:rPr lang="en-I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reaction:  Li +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(IV)O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/>
              </a:rPr>
              <a:t>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(III)O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</a:t>
            </a:r>
            <a:r>
              <a:rPr lang="en-I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anode,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oxidation of lithium takes place producing Li</a:t>
            </a:r>
            <a:r>
              <a:rPr lang="en-I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ions.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</a:t>
            </a:r>
            <a:r>
              <a:rPr lang="en-I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ions move into the electrolyte and electrons move into the electrolyte and electrons move into the external circuit to reach the cathode.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Cathode,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MnO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reduced from +4 oxidation state to +3 state to give LiMnO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 descr="CP224143 - Li-MnO2, 800mAh, 3.3V | Ultralife Corporatio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4" t="20244" r="7371" b="15416"/>
          <a:stretch>
            <a:fillRect/>
          </a:stretch>
        </p:blipFill>
        <p:spPr bwMode="auto">
          <a:xfrm>
            <a:off x="3657600" y="1441084"/>
            <a:ext cx="2495550" cy="1651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06" name="Picture 6" descr="3.0V 70mAh Li-MnO2 Battery, CR1620, watches battery -EEMB battery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34" r="25610"/>
          <a:stretch>
            <a:fillRect/>
          </a:stretch>
        </p:blipFill>
        <p:spPr bwMode="auto">
          <a:xfrm>
            <a:off x="6929437" y="1371600"/>
            <a:ext cx="1476375" cy="1527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ft LM-26500 C Size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90" r="26408"/>
          <a:stretch>
            <a:fillRect/>
          </a:stretch>
        </p:blipFill>
        <p:spPr bwMode="auto">
          <a:xfrm>
            <a:off x="1295400" y="1116117"/>
            <a:ext cx="1371600" cy="230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8" descr="Sport LED Digital Watches Women Men Fashion Casual Electronic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3" name="AutoShape 10" descr="Sport LED Digital Watches Women Men Fashion Casual Electronic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" name="AutoShape 12" descr="Sport LED Digital Watches Women Men Fashion Casual Electronic ...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AutoShape 14" descr="Sport LED Digital Watches Women Men Fashion Casual Electronic ...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51216" name="Picture 16" descr="Amazon.com: WUTAN Women's Sport Touch Screen Led Digital Watch ...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1460" y="3581400"/>
            <a:ext cx="1904390" cy="260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18" name="Picture 18" descr="To Artfully Capture Memories, Try These Cameras - The New York Time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962400"/>
            <a:ext cx="2886075" cy="158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42875" y="228600"/>
            <a:ext cx="87630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 it is used in electric watches, calculators, automatic cameras, toys and many consumer electronic devices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1"/>
          <p:cNvSpPr>
            <a:spLocks noGrp="1"/>
          </p:cNvSpPr>
          <p:nvPr>
            <p:ph idx="1"/>
          </p:nvPr>
        </p:nvSpPr>
        <p:spPr>
          <a:xfrm>
            <a:off x="304800" y="838200"/>
            <a:ext cx="8229600" cy="5410200"/>
          </a:xfrm>
        </p:spPr>
        <p:txBody>
          <a:bodyPr/>
          <a:lstStyle/>
          <a:p>
            <a:pPr algn="just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Rechargeable, Lithium ion batteries possesses many advantages. </a:t>
            </a:r>
          </a:p>
          <a:p>
            <a:pPr algn="just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include-high voltage, high energy density (240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Whr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/kg), high cycle life and very low self-discharge when not in use. </a:t>
            </a:r>
          </a:p>
          <a:p>
            <a:pPr algn="just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maximum voltage of 3.7V</a:t>
            </a:r>
          </a:p>
          <a:p>
            <a:pPr algn="just"/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Anode: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Graphite carbon.</a:t>
            </a:r>
          </a:p>
          <a:p>
            <a:pPr algn="just"/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Cathode: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Lithium-metal oxide (Li-MO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where M is Co or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Electrolyte: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LiPF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(Lithium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hexaflurophosphate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a mixture of organic solvent like ethylene carbonate and dimethyl carbonate.</a:t>
            </a:r>
          </a:p>
          <a:p>
            <a:pPr algn="just"/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representation: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 | Li</a:t>
            </a:r>
            <a:r>
              <a:rPr lang="en-US" alt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 |LiPF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ethylene carbonate | Li-MO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152400"/>
            <a:ext cx="3657600" cy="7921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Lithium ion battery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/>
          <p:cNvSpPr/>
          <p:nvPr/>
        </p:nvSpPr>
        <p:spPr>
          <a:xfrm>
            <a:off x="1752600" y="2362200"/>
            <a:ext cx="228600" cy="23622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5" name="Rectangle: Rounded Corners 4"/>
          <p:cNvSpPr/>
          <p:nvPr/>
        </p:nvSpPr>
        <p:spPr>
          <a:xfrm>
            <a:off x="6705600" y="2362200"/>
            <a:ext cx="228600" cy="23622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2438400"/>
            <a:ext cx="4724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981200" y="4648200"/>
            <a:ext cx="4724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667000" y="2438400"/>
            <a:ext cx="0" cy="2209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590800" y="2438400"/>
            <a:ext cx="0" cy="2209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867400" y="2438400"/>
            <a:ext cx="0" cy="2209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943600" y="2438400"/>
            <a:ext cx="0" cy="2209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586" name="TextBox 13"/>
          <p:cNvSpPr txBox="1">
            <a:spLocks noChangeArrowheads="1"/>
          </p:cNvSpPr>
          <p:nvPr/>
        </p:nvSpPr>
        <p:spPr bwMode="auto">
          <a:xfrm>
            <a:off x="2209800" y="2782888"/>
            <a:ext cx="3635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</a:p>
        </p:txBody>
      </p:sp>
      <p:sp>
        <p:nvSpPr>
          <p:cNvPr id="24587" name="TextBox 14"/>
          <p:cNvSpPr txBox="1">
            <a:spLocks noChangeArrowheads="1"/>
          </p:cNvSpPr>
          <p:nvPr/>
        </p:nvSpPr>
        <p:spPr bwMode="auto">
          <a:xfrm>
            <a:off x="2011363" y="2462213"/>
            <a:ext cx="363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</a:p>
        </p:txBody>
      </p:sp>
      <p:sp>
        <p:nvSpPr>
          <p:cNvPr id="24588" name="TextBox 15"/>
          <p:cNvSpPr txBox="1">
            <a:spLocks noChangeArrowheads="1"/>
          </p:cNvSpPr>
          <p:nvPr/>
        </p:nvSpPr>
        <p:spPr bwMode="auto">
          <a:xfrm>
            <a:off x="1968500" y="2909888"/>
            <a:ext cx="3635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</a:p>
        </p:txBody>
      </p:sp>
      <p:sp>
        <p:nvSpPr>
          <p:cNvPr id="24589" name="TextBox 16"/>
          <p:cNvSpPr txBox="1">
            <a:spLocks noChangeArrowheads="1"/>
          </p:cNvSpPr>
          <p:nvPr/>
        </p:nvSpPr>
        <p:spPr bwMode="auto">
          <a:xfrm>
            <a:off x="2151063" y="3152775"/>
            <a:ext cx="363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</a:p>
        </p:txBody>
      </p:sp>
      <p:sp>
        <p:nvSpPr>
          <p:cNvPr id="24590" name="TextBox 17"/>
          <p:cNvSpPr txBox="1">
            <a:spLocks noChangeArrowheads="1"/>
          </p:cNvSpPr>
          <p:nvPr/>
        </p:nvSpPr>
        <p:spPr bwMode="auto">
          <a:xfrm>
            <a:off x="2209800" y="3521075"/>
            <a:ext cx="363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</a:p>
        </p:txBody>
      </p:sp>
      <p:sp>
        <p:nvSpPr>
          <p:cNvPr id="24591" name="TextBox 18"/>
          <p:cNvSpPr txBox="1">
            <a:spLocks noChangeArrowheads="1"/>
          </p:cNvSpPr>
          <p:nvPr/>
        </p:nvSpPr>
        <p:spPr bwMode="auto">
          <a:xfrm>
            <a:off x="2065338" y="3773488"/>
            <a:ext cx="3651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</a:p>
        </p:txBody>
      </p:sp>
      <p:sp>
        <p:nvSpPr>
          <p:cNvPr id="24592" name="TextBox 19"/>
          <p:cNvSpPr txBox="1">
            <a:spLocks noChangeArrowheads="1"/>
          </p:cNvSpPr>
          <p:nvPr/>
        </p:nvSpPr>
        <p:spPr bwMode="auto">
          <a:xfrm>
            <a:off x="2227263" y="4114800"/>
            <a:ext cx="3635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</a:p>
        </p:txBody>
      </p:sp>
      <p:sp>
        <p:nvSpPr>
          <p:cNvPr id="24593" name="TextBox 20"/>
          <p:cNvSpPr txBox="1">
            <a:spLocks noChangeArrowheads="1"/>
          </p:cNvSpPr>
          <p:nvPr/>
        </p:nvSpPr>
        <p:spPr bwMode="auto">
          <a:xfrm>
            <a:off x="1970088" y="3338513"/>
            <a:ext cx="365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</a:p>
        </p:txBody>
      </p:sp>
      <p:sp>
        <p:nvSpPr>
          <p:cNvPr id="24594" name="TextBox 21"/>
          <p:cNvSpPr txBox="1">
            <a:spLocks noChangeArrowheads="1"/>
          </p:cNvSpPr>
          <p:nvPr/>
        </p:nvSpPr>
        <p:spPr bwMode="auto">
          <a:xfrm>
            <a:off x="2011363" y="4206875"/>
            <a:ext cx="3635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</a:p>
        </p:txBody>
      </p:sp>
      <p:sp>
        <p:nvSpPr>
          <p:cNvPr id="24595" name="TextBox 22"/>
          <p:cNvSpPr txBox="1">
            <a:spLocks noChangeArrowheads="1"/>
          </p:cNvSpPr>
          <p:nvPr/>
        </p:nvSpPr>
        <p:spPr bwMode="auto">
          <a:xfrm>
            <a:off x="2286000" y="2438400"/>
            <a:ext cx="363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</a:p>
        </p:txBody>
      </p:sp>
      <p:sp>
        <p:nvSpPr>
          <p:cNvPr id="24596" name="TextBox 23"/>
          <p:cNvSpPr txBox="1">
            <a:spLocks noChangeArrowheads="1"/>
          </p:cNvSpPr>
          <p:nvPr/>
        </p:nvSpPr>
        <p:spPr bwMode="auto">
          <a:xfrm>
            <a:off x="6337300" y="3225800"/>
            <a:ext cx="3635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</a:p>
        </p:txBody>
      </p:sp>
      <p:sp>
        <p:nvSpPr>
          <p:cNvPr id="24597" name="TextBox 24"/>
          <p:cNvSpPr txBox="1">
            <a:spLocks noChangeArrowheads="1"/>
          </p:cNvSpPr>
          <p:nvPr/>
        </p:nvSpPr>
        <p:spPr bwMode="auto">
          <a:xfrm>
            <a:off x="6226175" y="2741613"/>
            <a:ext cx="3635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</a:p>
        </p:txBody>
      </p:sp>
      <p:sp>
        <p:nvSpPr>
          <p:cNvPr id="24598" name="TextBox 25"/>
          <p:cNvSpPr txBox="1">
            <a:spLocks noChangeArrowheads="1"/>
          </p:cNvSpPr>
          <p:nvPr/>
        </p:nvSpPr>
        <p:spPr bwMode="auto">
          <a:xfrm>
            <a:off x="5984875" y="4121150"/>
            <a:ext cx="363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</a:p>
        </p:txBody>
      </p:sp>
      <p:sp>
        <p:nvSpPr>
          <p:cNvPr id="24599" name="TextBox 26"/>
          <p:cNvSpPr txBox="1">
            <a:spLocks noChangeArrowheads="1"/>
          </p:cNvSpPr>
          <p:nvPr/>
        </p:nvSpPr>
        <p:spPr bwMode="auto">
          <a:xfrm>
            <a:off x="6075363" y="3275013"/>
            <a:ext cx="365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</a:p>
        </p:txBody>
      </p:sp>
      <p:sp>
        <p:nvSpPr>
          <p:cNvPr id="24600" name="TextBox 27"/>
          <p:cNvSpPr txBox="1">
            <a:spLocks noChangeArrowheads="1"/>
          </p:cNvSpPr>
          <p:nvPr/>
        </p:nvSpPr>
        <p:spPr bwMode="auto">
          <a:xfrm>
            <a:off x="6338888" y="2420938"/>
            <a:ext cx="363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</a:p>
        </p:txBody>
      </p:sp>
      <p:sp>
        <p:nvSpPr>
          <p:cNvPr id="24601" name="TextBox 28"/>
          <p:cNvSpPr txBox="1">
            <a:spLocks noChangeArrowheads="1"/>
          </p:cNvSpPr>
          <p:nvPr/>
        </p:nvSpPr>
        <p:spPr bwMode="auto">
          <a:xfrm>
            <a:off x="6286500" y="4125913"/>
            <a:ext cx="3635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</a:p>
        </p:txBody>
      </p:sp>
      <p:sp>
        <p:nvSpPr>
          <p:cNvPr id="24602" name="TextBox 29"/>
          <p:cNvSpPr txBox="1">
            <a:spLocks noChangeArrowheads="1"/>
          </p:cNvSpPr>
          <p:nvPr/>
        </p:nvSpPr>
        <p:spPr bwMode="auto">
          <a:xfrm>
            <a:off x="6223000" y="3683000"/>
            <a:ext cx="3651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</a:p>
        </p:txBody>
      </p:sp>
      <p:sp>
        <p:nvSpPr>
          <p:cNvPr id="24603" name="TextBox 30"/>
          <p:cNvSpPr txBox="1">
            <a:spLocks noChangeArrowheads="1"/>
          </p:cNvSpPr>
          <p:nvPr/>
        </p:nvSpPr>
        <p:spPr bwMode="auto">
          <a:xfrm>
            <a:off x="5972175" y="2865438"/>
            <a:ext cx="3635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</a:p>
        </p:txBody>
      </p:sp>
      <p:sp>
        <p:nvSpPr>
          <p:cNvPr id="24604" name="TextBox 31"/>
          <p:cNvSpPr txBox="1">
            <a:spLocks noChangeArrowheads="1"/>
          </p:cNvSpPr>
          <p:nvPr/>
        </p:nvSpPr>
        <p:spPr bwMode="auto">
          <a:xfrm>
            <a:off x="5984875" y="2473325"/>
            <a:ext cx="363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</a:p>
        </p:txBody>
      </p:sp>
      <p:sp>
        <p:nvSpPr>
          <p:cNvPr id="24605" name="TextBox 32"/>
          <p:cNvSpPr txBox="1">
            <a:spLocks noChangeArrowheads="1"/>
          </p:cNvSpPr>
          <p:nvPr/>
        </p:nvSpPr>
        <p:spPr bwMode="auto">
          <a:xfrm>
            <a:off x="2833688" y="2578100"/>
            <a:ext cx="454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  <a:r>
              <a:rPr lang="en-IN" baseline="30000"/>
              <a:t>+</a:t>
            </a:r>
          </a:p>
        </p:txBody>
      </p:sp>
      <p:sp>
        <p:nvSpPr>
          <p:cNvPr id="24606" name="TextBox 33"/>
          <p:cNvSpPr txBox="1">
            <a:spLocks noChangeArrowheads="1"/>
          </p:cNvSpPr>
          <p:nvPr/>
        </p:nvSpPr>
        <p:spPr bwMode="auto">
          <a:xfrm>
            <a:off x="5124450" y="2578100"/>
            <a:ext cx="454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dirty="0"/>
              <a:t>Li</a:t>
            </a:r>
            <a:r>
              <a:rPr lang="en-IN" baseline="30000" dirty="0"/>
              <a:t>+</a:t>
            </a:r>
          </a:p>
        </p:txBody>
      </p:sp>
      <p:sp>
        <p:nvSpPr>
          <p:cNvPr id="24607" name="TextBox 34"/>
          <p:cNvSpPr txBox="1">
            <a:spLocks noChangeArrowheads="1"/>
          </p:cNvSpPr>
          <p:nvPr/>
        </p:nvSpPr>
        <p:spPr bwMode="auto">
          <a:xfrm>
            <a:off x="4181475" y="2522538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  <a:r>
              <a:rPr lang="en-IN" baseline="30000"/>
              <a:t>+</a:t>
            </a:r>
          </a:p>
        </p:txBody>
      </p:sp>
      <p:sp>
        <p:nvSpPr>
          <p:cNvPr id="24608" name="TextBox 35"/>
          <p:cNvSpPr txBox="1">
            <a:spLocks noChangeArrowheads="1"/>
          </p:cNvSpPr>
          <p:nvPr/>
        </p:nvSpPr>
        <p:spPr bwMode="auto">
          <a:xfrm>
            <a:off x="3584575" y="2608263"/>
            <a:ext cx="454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  <a:r>
              <a:rPr lang="en-IN" baseline="30000"/>
              <a:t>+</a:t>
            </a:r>
          </a:p>
        </p:txBody>
      </p:sp>
      <p:sp>
        <p:nvSpPr>
          <p:cNvPr id="24609" name="TextBox 36"/>
          <p:cNvSpPr txBox="1">
            <a:spLocks noChangeArrowheads="1"/>
          </p:cNvSpPr>
          <p:nvPr/>
        </p:nvSpPr>
        <p:spPr bwMode="auto">
          <a:xfrm>
            <a:off x="3498850" y="4103688"/>
            <a:ext cx="454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  <a:r>
              <a:rPr lang="en-IN" baseline="30000"/>
              <a:t>+</a:t>
            </a:r>
          </a:p>
        </p:txBody>
      </p:sp>
      <p:sp>
        <p:nvSpPr>
          <p:cNvPr id="24610" name="TextBox 37"/>
          <p:cNvSpPr txBox="1">
            <a:spLocks noChangeArrowheads="1"/>
          </p:cNvSpPr>
          <p:nvPr/>
        </p:nvSpPr>
        <p:spPr bwMode="auto">
          <a:xfrm>
            <a:off x="2792413" y="4092575"/>
            <a:ext cx="454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  <a:r>
              <a:rPr lang="en-IN" baseline="30000"/>
              <a:t>+</a:t>
            </a:r>
          </a:p>
        </p:txBody>
      </p:sp>
      <p:sp>
        <p:nvSpPr>
          <p:cNvPr id="24611" name="TextBox 38"/>
          <p:cNvSpPr txBox="1">
            <a:spLocks noChangeArrowheads="1"/>
          </p:cNvSpPr>
          <p:nvPr/>
        </p:nvSpPr>
        <p:spPr bwMode="auto">
          <a:xfrm>
            <a:off x="5160963" y="4170363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  <a:r>
              <a:rPr lang="en-IN" baseline="30000"/>
              <a:t>+</a:t>
            </a:r>
          </a:p>
        </p:txBody>
      </p:sp>
      <p:sp>
        <p:nvSpPr>
          <p:cNvPr id="24612" name="TextBox 39"/>
          <p:cNvSpPr txBox="1">
            <a:spLocks noChangeArrowheads="1"/>
          </p:cNvSpPr>
          <p:nvPr/>
        </p:nvSpPr>
        <p:spPr bwMode="auto">
          <a:xfrm>
            <a:off x="4319588" y="4092575"/>
            <a:ext cx="454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</a:t>
            </a:r>
            <a:r>
              <a:rPr lang="en-IN" baseline="30000"/>
              <a:t>+</a:t>
            </a:r>
          </a:p>
        </p:txBody>
      </p:sp>
      <p:cxnSp>
        <p:nvCxnSpPr>
          <p:cNvPr id="42" name="Connector: Elbow 41"/>
          <p:cNvCxnSpPr/>
          <p:nvPr/>
        </p:nvCxnSpPr>
        <p:spPr>
          <a:xfrm>
            <a:off x="2708275" y="3032125"/>
            <a:ext cx="3121025" cy="1936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or: Elbow 45"/>
          <p:cNvCxnSpPr/>
          <p:nvPr/>
        </p:nvCxnSpPr>
        <p:spPr>
          <a:xfrm rot="10800000" flipV="1">
            <a:off x="2667000" y="3706813"/>
            <a:ext cx="3162300" cy="2508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615" name="TextBox 46"/>
          <p:cNvSpPr txBox="1">
            <a:spLocks noChangeArrowheads="1"/>
          </p:cNvSpPr>
          <p:nvPr/>
        </p:nvSpPr>
        <p:spPr bwMode="auto">
          <a:xfrm>
            <a:off x="4343400" y="2895600"/>
            <a:ext cx="12652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sz="1600"/>
              <a:t>Discharging</a:t>
            </a:r>
          </a:p>
        </p:txBody>
      </p:sp>
      <p:sp>
        <p:nvSpPr>
          <p:cNvPr id="24616" name="TextBox 48"/>
          <p:cNvSpPr txBox="1">
            <a:spLocks noChangeArrowheads="1"/>
          </p:cNvSpPr>
          <p:nvPr/>
        </p:nvSpPr>
        <p:spPr bwMode="auto">
          <a:xfrm>
            <a:off x="2789238" y="3678238"/>
            <a:ext cx="9699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sz="1600"/>
              <a:t>charging</a:t>
            </a:r>
          </a:p>
        </p:txBody>
      </p:sp>
      <p:sp>
        <p:nvSpPr>
          <p:cNvPr id="24617" name="TextBox 49"/>
          <p:cNvSpPr txBox="1">
            <a:spLocks noChangeArrowheads="1"/>
          </p:cNvSpPr>
          <p:nvPr/>
        </p:nvSpPr>
        <p:spPr bwMode="auto">
          <a:xfrm>
            <a:off x="5802313" y="1004888"/>
            <a:ext cx="327533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b="1" dirty="0"/>
              <a:t>Cathode :</a:t>
            </a:r>
            <a:r>
              <a:rPr lang="en-IN" dirty="0"/>
              <a:t> Li atoms </a:t>
            </a:r>
            <a:r>
              <a:rPr lang="en-US" altLang="en-IN" dirty="0"/>
              <a:t>insert</a:t>
            </a:r>
            <a:r>
              <a:rPr lang="en-IN" dirty="0"/>
              <a:t> </a:t>
            </a:r>
          </a:p>
          <a:p>
            <a:r>
              <a:rPr lang="en-IN" dirty="0"/>
              <a:t>in the layered structure of MO</a:t>
            </a:r>
            <a:r>
              <a:rPr lang="en-IN" baseline="-25000" dirty="0"/>
              <a:t>2</a:t>
            </a:r>
          </a:p>
        </p:txBody>
      </p:sp>
      <p:sp>
        <p:nvSpPr>
          <p:cNvPr id="24618" name="TextBox 50"/>
          <p:cNvSpPr txBox="1">
            <a:spLocks noChangeArrowheads="1"/>
          </p:cNvSpPr>
          <p:nvPr/>
        </p:nvSpPr>
        <p:spPr bwMode="auto">
          <a:xfrm>
            <a:off x="63500" y="1225550"/>
            <a:ext cx="25831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b="1" dirty="0"/>
              <a:t>Anode :</a:t>
            </a:r>
            <a:r>
              <a:rPr lang="en-IN" dirty="0"/>
              <a:t> Li atoms</a:t>
            </a:r>
            <a:r>
              <a:rPr lang="en-US" altLang="en-IN" dirty="0"/>
              <a:t> insert</a:t>
            </a:r>
            <a:endParaRPr lang="en-IN" dirty="0"/>
          </a:p>
          <a:p>
            <a:r>
              <a:rPr lang="en-IN" dirty="0"/>
              <a:t>in the layered graphite</a:t>
            </a:r>
            <a:endParaRPr lang="en-IN" baseline="-25000" dirty="0"/>
          </a:p>
        </p:txBody>
      </p:sp>
      <p:sp>
        <p:nvSpPr>
          <p:cNvPr id="24619" name="TextBox 51"/>
          <p:cNvSpPr txBox="1">
            <a:spLocks noChangeArrowheads="1"/>
          </p:cNvSpPr>
          <p:nvPr/>
        </p:nvSpPr>
        <p:spPr bwMode="auto">
          <a:xfrm>
            <a:off x="3584575" y="5440363"/>
            <a:ext cx="3744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/>
              <a:t>LiPF</a:t>
            </a:r>
            <a:r>
              <a:rPr lang="en-IN" baseline="-25000"/>
              <a:t>6</a:t>
            </a:r>
            <a:r>
              <a:rPr lang="en-IN" b="1"/>
              <a:t> </a:t>
            </a:r>
            <a:r>
              <a:rPr lang="en-IN"/>
              <a:t>electrolyte in organic solvent</a:t>
            </a:r>
            <a:endParaRPr lang="en-IN" baseline="-25000"/>
          </a:p>
        </p:txBody>
      </p:sp>
      <p:cxnSp>
        <p:nvCxnSpPr>
          <p:cNvPr id="54" name="Straight Arrow Connector 53"/>
          <p:cNvCxnSpPr/>
          <p:nvPr/>
        </p:nvCxnSpPr>
        <p:spPr>
          <a:xfrm flipV="1">
            <a:off x="6335713" y="1651000"/>
            <a:ext cx="104775" cy="871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 flipV="1">
            <a:off x="1968500" y="1871663"/>
            <a:ext cx="363538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4716463" y="4529138"/>
            <a:ext cx="484187" cy="903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1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486400"/>
          </a:xfrm>
        </p:spPr>
        <p:txBody>
          <a:bodyPr/>
          <a:lstStyle/>
          <a:p>
            <a:pPr algn="just"/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Electrode reaction during discharging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anode: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Li-C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</a:t>
            </a:r>
            <a:r>
              <a:rPr lang="en-US" alt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e</a:t>
            </a:r>
            <a:r>
              <a:rPr lang="en-US" alt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+ 6C</a:t>
            </a:r>
          </a:p>
          <a:p>
            <a:pPr algn="just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cathode:           Li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  e</a:t>
            </a:r>
            <a:r>
              <a:rPr lang="en-US" alt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MO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LiMO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cell reaction:  Li-C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MO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6C + LiMO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charging cell reactions will be reversed.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2362201"/>
            <a:ext cx="28956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cell phones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laptops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vehicles</a:t>
            </a:r>
          </a:p>
          <a:p>
            <a:endParaRPr lang="en-US" sz="2200" dirty="0"/>
          </a:p>
        </p:txBody>
      </p:sp>
      <p:pic>
        <p:nvPicPr>
          <p:cNvPr id="4" name="Picture 3" descr="http://www.gladelectronics.com/uploads/allimg/151015/1-151015232QQD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22" r="9360"/>
          <a:stretch>
            <a:fillRect/>
          </a:stretch>
        </p:blipFill>
        <p:spPr bwMode="auto">
          <a:xfrm>
            <a:off x="3171824" y="2286000"/>
            <a:ext cx="5667376" cy="426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4600" y="2667000"/>
            <a:ext cx="39020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25</TotalTime>
  <Words>1892</Words>
  <Application>Microsoft Office PowerPoint</Application>
  <PresentationFormat>On-screen Show (4:3)</PresentationFormat>
  <Paragraphs>177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Algerian</vt:lpstr>
      <vt:lpstr>Arial</vt:lpstr>
      <vt:lpstr>Cambria Math</vt:lpstr>
      <vt:lpstr>Lucida Sans Unicode</vt:lpstr>
      <vt:lpstr>Times New Roman</vt:lpstr>
      <vt:lpstr>Verdana</vt:lpstr>
      <vt:lpstr>Wingdings 2</vt:lpstr>
      <vt:lpstr>Wingdings 3</vt:lpstr>
      <vt:lpstr>Concourse</vt:lpstr>
      <vt:lpstr>Energy storage system</vt:lpstr>
      <vt:lpstr>Battery Technology</vt:lpstr>
      <vt:lpstr>PowerPoint Presentation</vt:lpstr>
      <vt:lpstr>Components of the batteries:</vt:lpstr>
      <vt:lpstr>PowerPoint Presentation</vt:lpstr>
      <vt:lpstr>PowerPoint Presentation</vt:lpstr>
      <vt:lpstr>PowerPoint Presentation</vt:lpstr>
      <vt:lpstr>PowerPoint Presentation</vt:lpstr>
      <vt:lpstr>Classification of batteries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Nickel - Metal Hydride (Ni-MH) battery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Lithium ion battery</vt:lpstr>
      <vt:lpstr>PowerPoint Presentation</vt:lpstr>
      <vt:lpstr>PowerPoint Presentation</vt:lpstr>
      <vt:lpstr>PowerPoint Presentation</vt:lpstr>
    </vt:vector>
  </TitlesOfParts>
  <Company>JMU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Electrochemistry</dc:title>
  <dc:creator>Frank Palocsay</dc:creator>
  <cp:lastModifiedBy>Vidya N</cp:lastModifiedBy>
  <cp:revision>96</cp:revision>
  <dcterms:created xsi:type="dcterms:W3CDTF">2003-02-24T18:39:00Z</dcterms:created>
  <dcterms:modified xsi:type="dcterms:W3CDTF">2025-11-10T05:25:01Z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25C952CF09F94E5EAB6D415D8E60A6F4_12</vt:lpwstr>
  </property>
  <property fmtid="{D5CDD505-2E9C-101B-9397-08002B2CF9AE}" pid="3" name="KSOProductBuildVer">
    <vt:lpwstr>1033-12.2.0.19307</vt:lpwstr>
  </property>
</Properties>
</file>